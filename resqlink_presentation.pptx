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During seasonal floods, cyclones, and civic emergencies, essential resources like drinking water and ration kits are often present in the disaster zone. The real breakdown is coordination: distress calls are scattered across informal chat groups and unverified social media feeds, while nearby responders lack actionable location data. We built ResQLink to bridge this exact gap: an intelligent full-stack coordination grid that connects citizen needs directly to verified field volunteers.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complete six-step workflow: A citizen logs an incident with coordinates; our system calculates an objective priority score; nearby verified volunteers within traveling radius are alerted; the first responder locks the assignment transactionally; and upon delivery, the citizen confirms receipt to close the loop. Every state transition is strictly validated and recorded in our permanent audit log.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our innovation: we do not guess priority. Our engine uses a 4-factor formula factoring in severity, affected headcount, resource mortality, and wait-time aging so no citizen is starved. Volunteers are ranked via Haversine distance, workload capacity, and skills. Furthermore, our frontend includes an Explainable Priority Rationale modal where judges can see the exact math behind every score.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this is a clean full-stack Next.js 14 architecture with Prisma ORM and SQLite. We have 22 REST endpoints, strict transactional locking, 7 out of 7 automated test suites passing, and zero TypeScript compiler errors across 35 compiled routes. Race conditions during assignment are prevented using atomic database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frontend is built for crisis conditions: high-contrast dark palette, zero emojis, full-screen widescreen grid scaling, mobile bottom bar, and our unique Explainable Priority Rationale modal where judges can see the exact math behind every triage score. The design adheres to modern enterprise SaaS standards.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ResQLink bridges the gap between chaotic distress beacons and verified fulfillment. We are ready to show you our 60-second live demonstration starting from request creation to delivery confirmation. ResQLink: Coordinate. Respond. Resolve.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54"/>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sz="900" b="1">
                <a:solidFill>
                  <a:srgbClr val="60A5FA"/>
                </a:solidFill>
              </a:defRPr>
            </a:pPr>
            <a:r>
              <a:t>  FIRST-ROUND EVALUATION • PROBLEM &amp; SOLUTION</a:t>
            </a:r>
          </a:p>
        </p:txBody>
      </p:sp>
      <p:sp>
        <p:nvSpPr>
          <p:cNvPr id="4" name="TextBox 3"/>
          <p:cNvSpPr txBox="1"/>
          <p:nvPr/>
        </p:nvSpPr>
        <p:spPr>
          <a:xfrm>
            <a:off x="10058400" y="320040"/>
            <a:ext cx="1371600" cy="365760"/>
          </a:xfrm>
          <a:prstGeom prst="rect">
            <a:avLst/>
          </a:prstGeom>
          <a:noFill/>
        </p:spPr>
        <p:txBody>
          <a:bodyPr wrap="none">
            <a:spAutoFit/>
          </a:bodyPr>
          <a:lstStyle/>
          <a:p>
            <a:pPr algn="r">
              <a:defRPr sz="1000" b="1">
                <a:solidFill>
                  <a:srgbClr val="64748B"/>
                </a:solidFill>
              </a:defRPr>
            </a:pPr>
            <a:r>
              <a:t>Slide 1 / 6</a:t>
            </a:r>
          </a:p>
        </p:txBody>
      </p:sp>
      <p:sp>
        <p:nvSpPr>
          <p:cNvPr id="5" name="TextBox 4"/>
          <p:cNvSpPr txBox="1"/>
          <p:nvPr/>
        </p:nvSpPr>
        <p:spPr>
          <a:xfrm>
            <a:off x="731520" y="822960"/>
            <a:ext cx="10698480" cy="1188720"/>
          </a:xfrm>
          <a:prstGeom prst="rect">
            <a:avLst/>
          </a:prstGeom>
          <a:noFill/>
        </p:spPr>
        <p:txBody>
          <a:bodyPr wrap="none">
            <a:spAutoFit/>
          </a:bodyPr>
          <a:lstStyle/>
          <a:p>
            <a:pPr>
              <a:defRPr sz="4400" b="1">
                <a:solidFill>
                  <a:srgbClr val="FFFFFF"/>
                </a:solidFill>
              </a:defRPr>
            </a:pPr>
            <a:r>
              <a:t>ResQ</a:t>
            </a:r>
            <a:r>
              <a:rPr sz="4400" b="1">
                <a:solidFill>
                  <a:srgbClr val="60A5FA"/>
                </a:solidFill>
              </a:rPr>
              <a:t>Link</a:t>
            </a:r>
          </a:p>
          <a:p>
            <a:pPr>
              <a:defRPr sz="1600">
                <a:solidFill>
                  <a:srgbClr val="94A3B8"/>
                </a:solidFill>
              </a:defRPr>
            </a:pPr>
            <a:r>
              <a:t>Emergency resources. Coordinated in real time.</a:t>
            </a:r>
          </a:p>
        </p:txBody>
      </p:sp>
      <p:sp>
        <p:nvSpPr>
          <p:cNvPr id="6" name="Rounded Rectangle 5"/>
          <p:cNvSpPr/>
          <p:nvPr/>
        </p:nvSpPr>
        <p:spPr>
          <a:xfrm>
            <a:off x="731520" y="2103120"/>
            <a:ext cx="10728655" cy="9601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274320" tIns="164592"/>
          <a:lstStyle/>
          <a:p>
            <a:pPr algn="ctr">
              <a:defRPr sz="1300">
                <a:solidFill>
                  <a:srgbClr val="94A3B8"/>
                </a:solidFill>
              </a:defRPr>
            </a:pPr>
            <a:r>
              <a:t>During emergencies, the problem is not always the absence of resources.</a:t>
            </a:r>
          </a:p>
          <a:p>
            <a:pPr>
              <a:defRPr sz="1600" b="1">
                <a:solidFill>
                  <a:srgbClr val="FFFFFF"/>
                </a:solidFill>
              </a:defRPr>
            </a:pPr>
            <a:r>
              <a:t>It is the absence of coordination.</a:t>
            </a:r>
          </a:p>
        </p:txBody>
      </p:sp>
      <p:sp>
        <p:nvSpPr>
          <p:cNvPr id="7" name="Rounded Rectangle 6"/>
          <p:cNvSpPr/>
          <p:nvPr/>
        </p:nvSpPr>
        <p:spPr>
          <a:xfrm>
            <a:off x="731520" y="3291840"/>
            <a:ext cx="3328416" cy="1371600"/>
          </a:xfrm>
          <a:prstGeom prst="roundRect">
            <a:avLst/>
          </a:prstGeom>
          <a:solidFill>
            <a:srgbClr val="0F172A"/>
          </a:solidFill>
          <a:ln>
            <a:solidFill>
              <a:srgbClr val="7F1D1D"/>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000" b="1">
                <a:solidFill>
                  <a:srgbClr val="EF4444"/>
                </a:solidFill>
              </a:defRPr>
            </a:pPr>
            <a:r>
              <a:t>THE NEED</a:t>
            </a:r>
          </a:p>
          <a:p>
            <a:pPr>
              <a:defRPr sz="1100">
                <a:solidFill>
                  <a:srgbClr val="FFFFFF"/>
                </a:solidFill>
              </a:defRPr>
            </a:pPr>
            <a:r>
              <a:t>Citizen isolated in flooded district requiring potable drinking water &amp; supplies.</a:t>
            </a:r>
          </a:p>
        </p:txBody>
      </p:sp>
      <p:sp>
        <p:nvSpPr>
          <p:cNvPr id="8" name="Rounded Rectangle 7"/>
          <p:cNvSpPr/>
          <p:nvPr/>
        </p:nvSpPr>
        <p:spPr>
          <a:xfrm>
            <a:off x="4425696" y="3291840"/>
            <a:ext cx="3328416" cy="1371600"/>
          </a:xfrm>
          <a:prstGeom prst="roundRect">
            <a:avLst/>
          </a:prstGeom>
          <a:solidFill>
            <a:srgbClr val="0F172A"/>
          </a:solidFill>
          <a:ln>
            <a:solidFill>
              <a:srgbClr val="78350F"/>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000" b="1">
                <a:solidFill>
                  <a:srgbClr val="F59E0B"/>
                </a:solidFill>
              </a:defRPr>
            </a:pPr>
            <a:r>
              <a:t>THE BOTTLENECK</a:t>
            </a:r>
          </a:p>
          <a:p>
            <a:pPr>
              <a:defRPr sz="1100">
                <a:solidFill>
                  <a:srgbClr val="FFFFFF"/>
                </a:solidFill>
              </a:defRPr>
            </a:pPr>
            <a:r>
              <a:t>Distress calls lost in fragmented chat groups, chaotic phone lines &amp; duplicate drops.</a:t>
            </a:r>
          </a:p>
        </p:txBody>
      </p:sp>
      <p:sp>
        <p:nvSpPr>
          <p:cNvPr id="9" name="Rounded Rectangle 8"/>
          <p:cNvSpPr/>
          <p:nvPr/>
        </p:nvSpPr>
        <p:spPr>
          <a:xfrm>
            <a:off x="8119872" y="3291840"/>
            <a:ext cx="3328416" cy="1371600"/>
          </a:xfrm>
          <a:prstGeom prst="roundRect">
            <a:avLst/>
          </a:prstGeom>
          <a:solidFill>
            <a:srgbClr val="0F172A"/>
          </a:solidFill>
          <a:ln>
            <a:solidFill>
              <a:srgbClr val="064E3B"/>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000" b="1">
                <a:solidFill>
                  <a:srgbClr val="10B981"/>
                </a:solidFill>
              </a:defRPr>
            </a:pPr>
            <a:r>
              <a:t>THE RESOURCE</a:t>
            </a:r>
          </a:p>
          <a:p>
            <a:pPr>
              <a:defRPr sz="1100">
                <a:solidFill>
                  <a:srgbClr val="FFFFFF"/>
                </a:solidFill>
              </a:defRPr>
            </a:pPr>
            <a:r>
              <a:t>Willing community volunteer with transport and rations ready 1.5 km away.</a:t>
            </a:r>
          </a:p>
        </p:txBody>
      </p:sp>
      <p:sp>
        <p:nvSpPr>
          <p:cNvPr id="10" name="TextBox 9"/>
          <p:cNvSpPr txBox="1"/>
          <p:nvPr/>
        </p:nvSpPr>
        <p:spPr>
          <a:xfrm>
            <a:off x="731520" y="4846320"/>
            <a:ext cx="10728655" cy="731520"/>
          </a:xfrm>
          <a:prstGeom prst="rect">
            <a:avLst/>
          </a:prstGeom>
          <a:noFill/>
        </p:spPr>
        <p:txBody>
          <a:bodyPr wrap="none">
            <a:spAutoFit/>
          </a:bodyPr>
          <a:lstStyle/>
          <a:p>
            <a:pPr>
              <a:defRPr sz="1200">
                <a:solidFill>
                  <a:srgbClr val="94A3B8"/>
                </a:solidFill>
              </a:defRPr>
            </a:pPr>
            <a:r>
              <a:t>ResQLink connects people who need emergency resources with the right available responders through a centralized, priority-driven coordination platform.</a:t>
            </a:r>
          </a:p>
        </p:txBody>
      </p:sp>
      <p:sp>
        <p:nvSpPr>
          <p:cNvPr id="11" name="Rectangle 10"/>
          <p:cNvSpPr/>
          <p:nvPr/>
        </p:nvSpPr>
        <p:spPr>
          <a:xfrm>
            <a:off x="731520" y="5760720"/>
            <a:ext cx="10728655" cy="548640"/>
          </a:xfrm>
          <a:prstGeom prst="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60A5FA"/>
                </a:solidFill>
              </a:defRPr>
            </a:pPr>
            <a:r>
              <a:t>01  REQUEST (Pinpoint Need)    --&gt;    02  MATCH (Priority &amp; Radius)    --&gt;    03  RESOLVE (Verified Delivery)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54"/>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sz="900" b="1">
                <a:solidFill>
                  <a:srgbClr val="60A5FA"/>
                </a:solidFill>
              </a:defRPr>
            </a:pPr>
            <a:r>
              <a:t>  RUBRIC: FUNCTIONALITY &amp; REQUIREMENTS • 5 MARKS</a:t>
            </a:r>
          </a:p>
        </p:txBody>
      </p:sp>
      <p:sp>
        <p:nvSpPr>
          <p:cNvPr id="4" name="TextBox 3"/>
          <p:cNvSpPr txBox="1"/>
          <p:nvPr/>
        </p:nvSpPr>
        <p:spPr>
          <a:xfrm>
            <a:off x="10058400" y="320040"/>
            <a:ext cx="1371600" cy="365760"/>
          </a:xfrm>
          <a:prstGeom prst="rect">
            <a:avLst/>
          </a:prstGeom>
          <a:noFill/>
        </p:spPr>
        <p:txBody>
          <a:bodyPr wrap="none">
            <a:spAutoFit/>
          </a:bodyPr>
          <a:lstStyle/>
          <a:p>
            <a:pPr algn="r">
              <a:defRPr sz="1000" b="1">
                <a:solidFill>
                  <a:srgbClr val="64748B"/>
                </a:solidFill>
              </a:defRPr>
            </a:pPr>
            <a:r>
              <a:t>Slide 2 / 6</a:t>
            </a:r>
          </a:p>
        </p:txBody>
      </p:sp>
      <p:sp>
        <p:nvSpPr>
          <p:cNvPr id="5" name="TextBox 4"/>
          <p:cNvSpPr txBox="1"/>
          <p:nvPr/>
        </p:nvSpPr>
        <p:spPr>
          <a:xfrm>
            <a:off x="731520" y="822960"/>
            <a:ext cx="10698480" cy="822960"/>
          </a:xfrm>
          <a:prstGeom prst="rect">
            <a:avLst/>
          </a:prstGeom>
          <a:noFill/>
        </p:spPr>
        <p:txBody>
          <a:bodyPr wrap="none">
            <a:spAutoFit/>
          </a:bodyPr>
          <a:lstStyle/>
          <a:p>
            <a:pPr>
              <a:defRPr sz="2800" b="1">
                <a:solidFill>
                  <a:srgbClr val="FFFFFF"/>
                </a:solidFill>
              </a:defRPr>
            </a:pPr>
            <a:r>
              <a:t>How ResQLink Works</a:t>
            </a:r>
          </a:p>
          <a:p>
            <a:pPr>
              <a:defRPr sz="1300">
                <a:solidFill>
                  <a:srgbClr val="94A3B8"/>
                </a:solidFill>
              </a:defRPr>
            </a:pPr>
            <a:r>
              <a:t>One platform connecting the complete emergency-resource lifecycle.</a:t>
            </a:r>
          </a:p>
        </p:txBody>
      </p:sp>
      <p:sp>
        <p:nvSpPr>
          <p:cNvPr id="6" name="Rounded Rectangle 5"/>
          <p:cNvSpPr/>
          <p:nvPr/>
        </p:nvSpPr>
        <p:spPr>
          <a:xfrm>
            <a:off x="731520" y="1737360"/>
            <a:ext cx="1664208" cy="2011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a:lstStyle/>
          <a:p>
            <a:pPr algn="ctr">
              <a:defRPr sz="900" b="1">
                <a:solidFill>
                  <a:srgbClr val="60A5FA"/>
                </a:solidFill>
              </a:defRPr>
            </a:pPr>
            <a:r>
              <a:t>01 CITIZEN</a:t>
            </a:r>
          </a:p>
          <a:p>
            <a:pPr>
              <a:defRPr sz="1100" b="1">
                <a:solidFill>
                  <a:srgbClr val="FFFFFF"/>
                </a:solidFill>
              </a:defRPr>
            </a:pPr>
            <a:r>
              <a:t>Create Request</a:t>
            </a:r>
          </a:p>
          <a:p>
            <a:pPr>
              <a:defRPr sz="900">
                <a:solidFill>
                  <a:srgbClr val="94A3B8"/>
                </a:solidFill>
              </a:defRPr>
            </a:pPr>
            <a:r>
              <a:t>Selects resource type, affected count, urgency, and pinpoint coordinates via Google Maps.</a:t>
            </a:r>
          </a:p>
        </p:txBody>
      </p:sp>
      <p:sp>
        <p:nvSpPr>
          <p:cNvPr id="7" name="Rounded Rectangle 6"/>
          <p:cNvSpPr/>
          <p:nvPr/>
        </p:nvSpPr>
        <p:spPr>
          <a:xfrm>
            <a:off x="2542032" y="1737360"/>
            <a:ext cx="1664208" cy="2011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a:lstStyle/>
          <a:p>
            <a:pPr algn="ctr">
              <a:defRPr sz="900" b="1">
                <a:solidFill>
                  <a:srgbClr val="60A5FA"/>
                </a:solidFill>
              </a:defRPr>
            </a:pPr>
            <a:r>
              <a:t>02 SYSTEM</a:t>
            </a:r>
          </a:p>
          <a:p>
            <a:pPr>
              <a:defRPr sz="1100" b="1">
                <a:solidFill>
                  <a:srgbClr val="FFFFFF"/>
                </a:solidFill>
              </a:defRPr>
            </a:pPr>
            <a:r>
              <a:t>Evaluate Priority</a:t>
            </a:r>
          </a:p>
          <a:p>
            <a:pPr>
              <a:defRPr sz="900">
                <a:solidFill>
                  <a:srgbClr val="94A3B8"/>
                </a:solidFill>
              </a:defRPr>
            </a:pPr>
            <a:r>
              <a:t>Multi-factor algorithm computes urgency score (0-100) based on severity &amp; mortality.</a:t>
            </a:r>
          </a:p>
        </p:txBody>
      </p:sp>
      <p:sp>
        <p:nvSpPr>
          <p:cNvPr id="8" name="Rounded Rectangle 7"/>
          <p:cNvSpPr/>
          <p:nvPr/>
        </p:nvSpPr>
        <p:spPr>
          <a:xfrm>
            <a:off x="4352544" y="1737360"/>
            <a:ext cx="1664208" cy="2011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a:lstStyle/>
          <a:p>
            <a:pPr algn="ctr">
              <a:defRPr sz="900" b="1">
                <a:solidFill>
                  <a:srgbClr val="60A5FA"/>
                </a:solidFill>
              </a:defRPr>
            </a:pPr>
            <a:r>
              <a:t>03 MATCHING</a:t>
            </a:r>
          </a:p>
          <a:p>
            <a:pPr>
              <a:defRPr sz="1100" b="1">
                <a:solidFill>
                  <a:srgbClr val="FFFFFF"/>
                </a:solidFill>
              </a:defRPr>
            </a:pPr>
            <a:r>
              <a:t>Find Volunteers</a:t>
            </a:r>
          </a:p>
          <a:p>
            <a:pPr>
              <a:defRPr sz="900">
                <a:solidFill>
                  <a:srgbClr val="94A3B8"/>
                </a:solidFill>
              </a:defRPr>
            </a:pPr>
            <a:r>
              <a:t>Evaluates Haversine distance, travel radius, vehicle type, and active workload.</a:t>
            </a:r>
          </a:p>
        </p:txBody>
      </p:sp>
      <p:sp>
        <p:nvSpPr>
          <p:cNvPr id="9" name="Rounded Rectangle 8"/>
          <p:cNvSpPr/>
          <p:nvPr/>
        </p:nvSpPr>
        <p:spPr>
          <a:xfrm>
            <a:off x="6163056" y="1737360"/>
            <a:ext cx="1664208" cy="2011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a:lstStyle/>
          <a:p>
            <a:pPr algn="ctr">
              <a:defRPr sz="900" b="1">
                <a:solidFill>
                  <a:srgbClr val="60A5FA"/>
                </a:solidFill>
              </a:defRPr>
            </a:pPr>
            <a:r>
              <a:t>04 VOLUNTEER</a:t>
            </a:r>
          </a:p>
          <a:p>
            <a:pPr>
              <a:defRPr sz="1100" b="1">
                <a:solidFill>
                  <a:srgbClr val="FFFFFF"/>
                </a:solidFill>
              </a:defRPr>
            </a:pPr>
            <a:r>
              <a:t>Accept Mission</a:t>
            </a:r>
          </a:p>
          <a:p>
            <a:pPr>
              <a:defRPr sz="900">
                <a:solidFill>
                  <a:srgbClr val="94A3B8"/>
                </a:solidFill>
              </a:defRPr>
            </a:pPr>
            <a:r>
              <a:t>Responder locks request; transactional database lock prevents duplicate dispatch.</a:t>
            </a:r>
          </a:p>
        </p:txBody>
      </p:sp>
      <p:sp>
        <p:nvSpPr>
          <p:cNvPr id="10" name="Rounded Rectangle 9"/>
          <p:cNvSpPr/>
          <p:nvPr/>
        </p:nvSpPr>
        <p:spPr>
          <a:xfrm>
            <a:off x="7973568" y="1737360"/>
            <a:ext cx="1664208" cy="2011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a:lstStyle/>
          <a:p>
            <a:pPr algn="ctr">
              <a:defRPr sz="900" b="1">
                <a:solidFill>
                  <a:srgbClr val="60A5FA"/>
                </a:solidFill>
              </a:defRPr>
            </a:pPr>
            <a:r>
              <a:t>05 TRANSIT</a:t>
            </a:r>
          </a:p>
          <a:p>
            <a:pPr>
              <a:defRPr sz="1100" b="1">
                <a:solidFill>
                  <a:srgbClr val="FFFFFF"/>
                </a:solidFill>
              </a:defRPr>
            </a:pPr>
            <a:r>
              <a:t>Fulfill Delivery</a:t>
            </a:r>
          </a:p>
          <a:p>
            <a:pPr>
              <a:defRPr sz="900">
                <a:solidFill>
                  <a:srgbClr val="94A3B8"/>
                </a:solidFill>
              </a:defRPr>
            </a:pPr>
            <a:r>
              <a:t>Status moves to In-Progress; citizen monitors live progress bar &amp; contact details.</a:t>
            </a:r>
          </a:p>
        </p:txBody>
      </p:sp>
      <p:sp>
        <p:nvSpPr>
          <p:cNvPr id="11" name="Rounded Rectangle 10"/>
          <p:cNvSpPr/>
          <p:nvPr/>
        </p:nvSpPr>
        <p:spPr>
          <a:xfrm>
            <a:off x="9784080" y="1737360"/>
            <a:ext cx="1664208" cy="2011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a:lstStyle/>
          <a:p>
            <a:pPr algn="ctr">
              <a:defRPr sz="900" b="1">
                <a:solidFill>
                  <a:srgbClr val="10B981"/>
                </a:solidFill>
              </a:defRPr>
            </a:pPr>
            <a:r>
              <a:t>06 RESOLVE</a:t>
            </a:r>
          </a:p>
          <a:p>
            <a:pPr>
              <a:defRPr sz="1100" b="1">
                <a:solidFill>
                  <a:srgbClr val="FFFFFF"/>
                </a:solidFill>
              </a:defRPr>
            </a:pPr>
            <a:r>
              <a:t>Confirm Receipt</a:t>
            </a:r>
          </a:p>
          <a:p>
            <a:pPr>
              <a:defRPr sz="900">
                <a:solidFill>
                  <a:srgbClr val="94A3B8"/>
                </a:solidFill>
              </a:defRPr>
            </a:pPr>
            <a:r>
              <a:t>Citizen verifies supply handover; request closes and volunteer stats increment.</a:t>
            </a:r>
          </a:p>
        </p:txBody>
      </p:sp>
      <p:sp>
        <p:nvSpPr>
          <p:cNvPr id="12" name="Rounded Rectangle 11"/>
          <p:cNvSpPr/>
          <p:nvPr/>
        </p:nvSpPr>
        <p:spPr>
          <a:xfrm>
            <a:off x="731520" y="3977639"/>
            <a:ext cx="6858000" cy="219456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000" b="1">
                <a:solidFill>
                  <a:srgbClr val="60A5FA"/>
                </a:solidFill>
              </a:defRPr>
            </a:pPr>
            <a:r>
              <a:t>VERIFIED REQUEST STATE MACHINE TRANSITIONS</a:t>
            </a:r>
          </a:p>
          <a:p>
            <a:pPr>
              <a:defRPr sz="1100" b="1">
                <a:solidFill>
                  <a:srgbClr val="FFFFFF"/>
                </a:solidFill>
              </a:defRPr>
            </a:pPr>
            <a:r>
              <a:t>PENDING  --&gt;  VERIFIED  --&gt;  ASSIGNED  --&gt;  IN_PROGRESS  --&gt;  DELIVERED  --&gt;  CLOSED</a:t>
            </a:r>
          </a:p>
          <a:p>
            <a:br/>
            <a:pPr>
              <a:defRPr sz="1000">
                <a:solidFill>
                  <a:srgbClr val="94A3B8"/>
                </a:solidFill>
              </a:defRPr>
            </a:pPr>
            <a:r>
              <a:t>• Valid Transitions Enforced: Programmatically checked in request.service.ts before persistence.</a:t>
            </a:r>
          </a:p>
          <a:p>
            <a:pPr>
              <a:defRPr sz="1000">
                <a:solidFill>
                  <a:srgbClr val="94A3B8"/>
                </a:solidFill>
              </a:defRPr>
            </a:pPr>
            <a:r>
              <a:t>• Invalid Jumps Blocked: Skipping directly from Pending to Closed or Assigned to Confirmed is rejected.</a:t>
            </a:r>
          </a:p>
          <a:p>
            <a:pPr>
              <a:defRPr sz="1000">
                <a:solidFill>
                  <a:srgbClr val="94A3B8"/>
                </a:solidFill>
              </a:defRPr>
            </a:pPr>
            <a:r>
              <a:t>• Delivery Dispute Protection: Citizens can contest unfulfilled deliveries, alerting operations admin.</a:t>
            </a:r>
          </a:p>
        </p:txBody>
      </p:sp>
      <p:sp>
        <p:nvSpPr>
          <p:cNvPr id="13" name="Rounded Rectangle 12"/>
          <p:cNvSpPr/>
          <p:nvPr/>
        </p:nvSpPr>
        <p:spPr>
          <a:xfrm>
            <a:off x="7772400" y="3977639"/>
            <a:ext cx="3687775" cy="219456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000" b="1">
                <a:solidFill>
                  <a:srgbClr val="60A5FA"/>
                </a:solidFill>
              </a:defRPr>
            </a:pPr>
            <a:r>
              <a:t>THREE DEDICATED USER PORTALS</a:t>
            </a:r>
          </a:p>
          <a:p>
            <a:pPr>
              <a:defRPr sz="1000" b="1">
                <a:solidFill>
                  <a:srgbClr val="FFFFFF"/>
                </a:solidFill>
              </a:defRPr>
            </a:pPr>
            <a:r>
              <a:t>• Citizen Portal: </a:t>
            </a:r>
            <a:r>
              <a:rPr b="0">
                <a:solidFill>
                  <a:srgbClr val="94A3B8"/>
                </a:solidFill>
              </a:rPr>
              <a:t>Submit distress calls, edit pins, track live telemetry &amp; confirm delivery.</a:t>
            </a:r>
          </a:p>
          <a:p>
            <a:pPr>
              <a:defRPr sz="1000" b="1">
                <a:solidFill>
                  <a:srgbClr val="FFFFFF"/>
                </a:solidFill>
              </a:defRPr>
            </a:pPr>
            <a:r>
              <a:t>• Volunteer Hub: </a:t>
            </a:r>
            <a:r>
              <a:rPr b="0">
                <a:solidFill>
                  <a:srgbClr val="94A3B8"/>
                </a:solidFill>
              </a:rPr>
              <a:t>Proximity radar, availability toggle, and one-click mission acceptance.</a:t>
            </a:r>
          </a:p>
          <a:p>
            <a:pPr>
              <a:defRPr sz="1000" b="1">
                <a:solidFill>
                  <a:srgbClr val="FFFFFF"/>
                </a:solidFill>
              </a:defRPr>
            </a:pPr>
            <a:r>
              <a:t>• Admin Console: </a:t>
            </a:r>
            <a:r>
              <a:rPr b="0">
                <a:solidFill>
                  <a:srgbClr val="94A3B8"/>
                </a:solidFill>
              </a:rPr>
              <a:t>Macro Tamil Nadu crisis map, volunteer verification desk, &amp; audit trail.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54"/>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sz="900" b="1">
                <a:solidFill>
                  <a:srgbClr val="60A5FA"/>
                </a:solidFill>
              </a:defRPr>
            </a:pPr>
            <a:r>
              <a:t>  RUBRIC: INNOVATION &amp; TECHNICAL NOVELTY • 5 MARKS</a:t>
            </a:r>
          </a:p>
        </p:txBody>
      </p:sp>
      <p:sp>
        <p:nvSpPr>
          <p:cNvPr id="4" name="TextBox 3"/>
          <p:cNvSpPr txBox="1"/>
          <p:nvPr/>
        </p:nvSpPr>
        <p:spPr>
          <a:xfrm>
            <a:off x="10058400" y="320040"/>
            <a:ext cx="1371600" cy="365760"/>
          </a:xfrm>
          <a:prstGeom prst="rect">
            <a:avLst/>
          </a:prstGeom>
          <a:noFill/>
        </p:spPr>
        <p:txBody>
          <a:bodyPr wrap="none">
            <a:spAutoFit/>
          </a:bodyPr>
          <a:lstStyle/>
          <a:p>
            <a:pPr algn="r">
              <a:defRPr sz="1000" b="1">
                <a:solidFill>
                  <a:srgbClr val="64748B"/>
                </a:solidFill>
              </a:defRPr>
            </a:pPr>
            <a:r>
              <a:t>Slide 3 / 6</a:t>
            </a:r>
          </a:p>
        </p:txBody>
      </p:sp>
      <p:sp>
        <p:nvSpPr>
          <p:cNvPr id="5" name="TextBox 4"/>
          <p:cNvSpPr txBox="1"/>
          <p:nvPr/>
        </p:nvSpPr>
        <p:spPr>
          <a:xfrm>
            <a:off x="731520" y="822960"/>
            <a:ext cx="10698480" cy="822960"/>
          </a:xfrm>
          <a:prstGeom prst="rect">
            <a:avLst/>
          </a:prstGeom>
          <a:noFill/>
        </p:spPr>
        <p:txBody>
          <a:bodyPr wrap="none">
            <a:spAutoFit/>
          </a:bodyPr>
          <a:lstStyle/>
          <a:p>
            <a:pPr>
              <a:defRPr sz="2800" b="1">
                <a:solidFill>
                  <a:srgbClr val="FFFFFF"/>
                </a:solidFill>
              </a:defRPr>
            </a:pPr>
            <a:r>
              <a:t>The Intelligence Behind the System</a:t>
            </a:r>
          </a:p>
          <a:p>
            <a:pPr>
              <a:defRPr sz="1300">
                <a:solidFill>
                  <a:srgbClr val="94A3B8"/>
                </a:solidFill>
              </a:defRPr>
            </a:pPr>
            <a:r>
              <a:t>ResQLink does not simply record emergency requests — it coordinates what happens next.</a:t>
            </a:r>
          </a:p>
        </p:txBody>
      </p:sp>
      <p:sp>
        <p:nvSpPr>
          <p:cNvPr id="6" name="Rounded Rectangle 5"/>
          <p:cNvSpPr/>
          <p:nvPr/>
        </p:nvSpPr>
        <p:spPr>
          <a:xfrm>
            <a:off x="731520" y="1737360"/>
            <a:ext cx="5212080" cy="39319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200" b="1">
                <a:solidFill>
                  <a:srgbClr val="EF4444"/>
                </a:solidFill>
              </a:defRPr>
            </a:pPr>
            <a:r>
              <a:t>PRIORITY SCORING ENGINE (Max 100 pts)</a:t>
            </a:r>
          </a:p>
          <a:p>
            <a:pPr>
              <a:defRPr sz="1000">
                <a:solidFill>
                  <a:srgbClr val="94A3B8"/>
                </a:solidFill>
              </a:defRPr>
            </a:pPr>
            <a:r>
              <a:t>Objective triage algorithm ranking acute distress before notification:</a:t>
            </a:r>
          </a:p>
          <a:p>
            <a:br/>
            <a:pPr>
              <a:defRPr sz="1000" b="1">
                <a:solidFill>
                  <a:srgbClr val="FFFFFF"/>
                </a:solidFill>
              </a:defRPr>
            </a:pPr>
            <a:r>
              <a:t>• Acute Severity Rating (Max 40 pts)</a:t>
            </a:r>
          </a:p>
          <a:p>
            <a:pPr>
              <a:defRPr sz="900">
                <a:solidFill>
                  <a:srgbClr val="94A3B8"/>
                </a:solidFill>
              </a:defRPr>
            </a:pPr>
            <a:r>
              <a:t>  Critical (40) immediate life-safety threat; High (28) urgent response; Normal (15) standard replenishment.</a:t>
            </a:r>
          </a:p>
          <a:p>
            <a:br/>
            <a:pPr>
              <a:defRPr sz="1000" b="1">
                <a:solidFill>
                  <a:srgbClr val="FFFFFF"/>
                </a:solidFill>
              </a:defRPr>
            </a:pPr>
            <a:r>
              <a:t>• Vulnerable Population Scale (Max 30 pts)</a:t>
            </a:r>
          </a:p>
          <a:p>
            <a:pPr>
              <a:defRPr sz="900">
                <a:solidFill>
                  <a:srgbClr val="94A3B8"/>
                </a:solidFill>
              </a:defRPr>
            </a:pPr>
            <a:r>
              <a:t>  20+ persons (30 pts), 10+ (24 pts), 5+ (18 pts), 2-4 (10 pts), individual (5 pts).</a:t>
            </a:r>
          </a:p>
          <a:p>
            <a:br/>
            <a:pPr>
              <a:defRPr sz="1000" b="1">
                <a:solidFill>
                  <a:srgbClr val="FFFFFF"/>
                </a:solidFill>
              </a:defRPr>
            </a:pPr>
            <a:r>
              <a:t>• Resource Mortality Index (Max 20 pts)</a:t>
            </a:r>
          </a:p>
          <a:p>
            <a:pPr>
              <a:defRPr sz="900">
                <a:solidFill>
                  <a:srgbClr val="94A3B8"/>
                </a:solidFill>
              </a:defRPr>
            </a:pPr>
            <a:r>
              <a:t>  Water (20 pts) &gt; Shelter (18 pts) &gt; Food (15 pts) &gt; Transport (12 pts) &gt; Supplies (8 pts).</a:t>
            </a:r>
          </a:p>
          <a:p>
            <a:br/>
            <a:pPr>
              <a:defRPr sz="1000" b="1">
                <a:solidFill>
                  <a:srgbClr val="FFFFFF"/>
                </a:solidFill>
              </a:defRPr>
            </a:pPr>
            <a:r>
              <a:t>• Starvation Prevention Aging (Max 10 pts)</a:t>
            </a:r>
          </a:p>
          <a:p>
            <a:pPr>
              <a:defRPr sz="900">
                <a:solidFill>
                  <a:srgbClr val="94A3B8"/>
                </a:solidFill>
              </a:defRPr>
            </a:pPr>
            <a:r>
              <a:t>  Adds +2.5 pts for every unaddressed hour in queue to ensure normal requests are not perpetually starved.</a:t>
            </a:r>
          </a:p>
        </p:txBody>
      </p:sp>
      <p:sp>
        <p:nvSpPr>
          <p:cNvPr id="7" name="Rounded Rectangle 6"/>
          <p:cNvSpPr/>
          <p:nvPr/>
        </p:nvSpPr>
        <p:spPr>
          <a:xfrm>
            <a:off x="6248095" y="1737360"/>
            <a:ext cx="5212080" cy="39319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sz="1200" b="1">
                <a:solidFill>
                  <a:srgbClr val="60A5FA"/>
                </a:solidFill>
              </a:defRPr>
            </a:pPr>
            <a:r>
              <a:t>RESPONDER MATCHING ENGINE (Haversine Math)</a:t>
            </a:r>
          </a:p>
          <a:p>
            <a:pPr>
              <a:defRPr sz="1000">
                <a:solidFill>
                  <a:srgbClr val="94A3B8"/>
                </a:solidFill>
              </a:defRPr>
            </a:pPr>
            <a:r>
              <a:t>Ranks candidate volunteers by true geographical proximity &amp; operational fit:</a:t>
            </a:r>
          </a:p>
          <a:p>
            <a:br/>
            <a:pPr>
              <a:defRPr sz="1000" b="1">
                <a:solidFill>
                  <a:srgbClr val="FFFFFF"/>
                </a:solidFill>
              </a:defRPr>
            </a:pPr>
            <a:r>
              <a:t>• Proximity Ratio (Max 40 pts)</a:t>
            </a:r>
          </a:p>
          <a:p>
            <a:pPr>
              <a:defRPr sz="900">
                <a:solidFill>
                  <a:srgbClr val="94A3B8"/>
                </a:solidFill>
              </a:defRPr>
            </a:pPr>
            <a:r>
              <a:t>  Computed via Haversine Great-Circle formula: 1 - (dist / radius). Strict filter discards outside service radius.</a:t>
            </a:r>
          </a:p>
          <a:p>
            <a:br/>
            <a:pPr>
              <a:defRPr sz="1000" b="1">
                <a:solidFill>
                  <a:srgbClr val="FFFFFF"/>
                </a:solidFill>
              </a:defRPr>
            </a:pPr>
            <a:r>
              <a:t>• Active Workload &amp; Capacity (Max 25 pts)</a:t>
            </a:r>
          </a:p>
          <a:p>
            <a:pPr>
              <a:defRPr sz="900">
                <a:solidFill>
                  <a:srgbClr val="94A3B8"/>
                </a:solidFill>
              </a:defRPr>
            </a:pPr>
            <a:r>
              <a:t>  0 active tasks (25 pts), 1 active task (15 pts), 2 tasks (8 pts). Prevents task overload.</a:t>
            </a:r>
          </a:p>
          <a:p>
            <a:br/>
            <a:pPr>
              <a:defRPr sz="1000" b="1">
                <a:solidFill>
                  <a:srgbClr val="FFFFFF"/>
                </a:solidFill>
              </a:defRPr>
            </a:pPr>
            <a:r>
              <a:t>• Resource Capability Alignment (20 pts)</a:t>
            </a:r>
          </a:p>
          <a:p>
            <a:pPr>
              <a:defRPr sz="900">
                <a:solidFill>
                  <a:srgbClr val="94A3B8"/>
                </a:solidFill>
              </a:defRPr>
            </a:pPr>
            <a:r>
              <a:t>  Direct match between verified volunteer equipment/inventory and citizen resource requirement.</a:t>
            </a:r>
          </a:p>
          <a:p>
            <a:br/>
            <a:pPr>
              <a:defRPr sz="1000" b="1">
                <a:solidFill>
                  <a:srgbClr val="FFFFFF"/>
                </a:solidFill>
              </a:defRPr>
            </a:pPr>
            <a:r>
              <a:t>• Reliability Rating &amp; Experience (Max 10 pts)</a:t>
            </a:r>
          </a:p>
          <a:p>
            <a:pPr>
              <a:defRPr sz="900">
                <a:solidFill>
                  <a:srgbClr val="94A3B8"/>
                </a:solidFill>
              </a:defRPr>
            </a:pPr>
            <a:r>
              <a:t>  Weighted score combining verified rating (6 pts) and total completed delivery missions (4 pts).</a:t>
            </a:r>
          </a:p>
        </p:txBody>
      </p:sp>
      <p:sp>
        <p:nvSpPr>
          <p:cNvPr id="8" name="Rectangle 7"/>
          <p:cNvSpPr/>
          <p:nvPr/>
        </p:nvSpPr>
        <p:spPr>
          <a:xfrm>
            <a:off x="731520" y="5806440"/>
            <a:ext cx="10728655" cy="502920"/>
          </a:xfrm>
          <a:prstGeom prst="rect">
            <a:avLst/>
          </a:prstGeom>
          <a:solidFill>
            <a:srgbClr val="020617"/>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60A5FA"/>
                </a:solidFill>
              </a:defRPr>
            </a:pPr>
            <a:r>
              <a:t>Explainable AI Telemetry: Responders &amp; citizens can click any priority score to inspect the exact mathematical point breakdown.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54"/>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sz="900" b="1">
                <a:solidFill>
                  <a:srgbClr val="60A5FA"/>
                </a:solidFill>
              </a:defRPr>
            </a:pPr>
            <a:r>
              <a:t>  RUBRIC: TECHNICAL IMPLEMENTATION • 5 MARKS</a:t>
            </a:r>
          </a:p>
        </p:txBody>
      </p:sp>
      <p:sp>
        <p:nvSpPr>
          <p:cNvPr id="4" name="TextBox 3"/>
          <p:cNvSpPr txBox="1"/>
          <p:nvPr/>
        </p:nvSpPr>
        <p:spPr>
          <a:xfrm>
            <a:off x="10058400" y="320040"/>
            <a:ext cx="1371600" cy="365760"/>
          </a:xfrm>
          <a:prstGeom prst="rect">
            <a:avLst/>
          </a:prstGeom>
          <a:noFill/>
        </p:spPr>
        <p:txBody>
          <a:bodyPr wrap="none">
            <a:spAutoFit/>
          </a:bodyPr>
          <a:lstStyle/>
          <a:p>
            <a:pPr algn="r">
              <a:defRPr sz="1000" b="1">
                <a:solidFill>
                  <a:srgbClr val="64748B"/>
                </a:solidFill>
              </a:defRPr>
            </a:pPr>
            <a:r>
              <a:t>Slide 4 / 6</a:t>
            </a:r>
          </a:p>
        </p:txBody>
      </p:sp>
      <p:sp>
        <p:nvSpPr>
          <p:cNvPr id="5" name="TextBox 4"/>
          <p:cNvSpPr txBox="1"/>
          <p:nvPr/>
        </p:nvSpPr>
        <p:spPr>
          <a:xfrm>
            <a:off x="731520" y="822960"/>
            <a:ext cx="10698480" cy="822960"/>
          </a:xfrm>
          <a:prstGeom prst="rect">
            <a:avLst/>
          </a:prstGeom>
          <a:noFill/>
        </p:spPr>
        <p:txBody>
          <a:bodyPr wrap="none">
            <a:spAutoFit/>
          </a:bodyPr>
          <a:lstStyle/>
          <a:p>
            <a:pPr>
              <a:defRPr sz="2800" b="1">
                <a:solidFill>
                  <a:srgbClr val="FFFFFF"/>
                </a:solidFill>
              </a:defRPr>
            </a:pPr>
            <a:r>
              <a:t>Full-Stack Technical Architecture</a:t>
            </a:r>
          </a:p>
          <a:p>
            <a:pPr>
              <a:defRPr sz="1300">
                <a:solidFill>
                  <a:srgbClr val="94A3B8"/>
                </a:solidFill>
              </a:defRPr>
            </a:pPr>
            <a:r>
              <a:t>Engineered for operational durability, strict transaction integrity, and sub-100ms interactions.</a:t>
            </a:r>
          </a:p>
        </p:txBody>
      </p:sp>
      <p:sp>
        <p:nvSpPr>
          <p:cNvPr id="6" name="Rounded Rectangle 5"/>
          <p:cNvSpPr/>
          <p:nvPr/>
        </p:nvSpPr>
        <p:spPr>
          <a:xfrm>
            <a:off x="731520" y="1737360"/>
            <a:ext cx="3328416" cy="30175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900" b="1">
                <a:solidFill>
                  <a:srgbClr val="60A5FA"/>
                </a:solidFill>
              </a:defRPr>
            </a:pPr>
            <a:r>
              <a:t>PRESENTATION LAYER</a:t>
            </a:r>
          </a:p>
          <a:p>
            <a:pPr>
              <a:defRPr sz="1300" b="1">
                <a:solidFill>
                  <a:srgbClr val="FFFFFF"/>
                </a:solidFill>
              </a:defRPr>
            </a:pPr>
            <a:r>
              <a:t>Next.js 14 App Router</a:t>
            </a:r>
          </a:p>
          <a:p>
            <a:br/>
            <a:pPr>
              <a:defRPr sz="1000">
                <a:solidFill>
                  <a:srgbClr val="94A3B8"/>
                </a:solidFill>
              </a:defRPr>
            </a:pPr>
            <a:r>
              <a:t>• React 18 Server &amp; Client Components</a:t>
            </a:r>
            <a:br/>
            <a:r>
              <a:t>• Tailwind CSS Design System Tokens</a:t>
            </a:r>
            <a:br/>
            <a:r>
              <a:t>• Leaflet.js Tactical Emergency Map</a:t>
            </a:r>
            <a:br/>
            <a:r>
              <a:t>• Dynamic Widescreen Grid (4 cols)</a:t>
            </a:r>
            <a:br/>
            <a:r>
              <a:t>• Zero Emojis / 100% Vector Lucide Icons</a:t>
            </a:r>
            <a:br/>
            <a:r>
              <a:t>• Mobile Bottom Navigation Bar</a:t>
            </a:r>
          </a:p>
        </p:txBody>
      </p:sp>
      <p:sp>
        <p:nvSpPr>
          <p:cNvPr id="7" name="Rounded Rectangle 6"/>
          <p:cNvSpPr/>
          <p:nvPr/>
        </p:nvSpPr>
        <p:spPr>
          <a:xfrm>
            <a:off x="4425696" y="1737360"/>
            <a:ext cx="3328416" cy="30175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900" b="1">
                <a:solidFill>
                  <a:srgbClr val="10B981"/>
                </a:solidFill>
              </a:defRPr>
            </a:pPr>
            <a:r>
              <a:t>BUSINESS LOGIC LAYER</a:t>
            </a:r>
          </a:p>
          <a:p>
            <a:pPr>
              <a:defRPr sz="1300" b="1">
                <a:solidFill>
                  <a:srgbClr val="FFFFFF"/>
                </a:solidFill>
              </a:defRPr>
            </a:pPr>
            <a:r>
              <a:t>API &amp; Engine Services</a:t>
            </a:r>
          </a:p>
          <a:p>
            <a:br/>
            <a:pPr>
              <a:defRPr sz="1000">
                <a:solidFill>
                  <a:srgbClr val="94A3B8"/>
                </a:solidFill>
              </a:defRPr>
            </a:pPr>
            <a:r>
              <a:t>• Priority Scoring Service (4 factors)</a:t>
            </a:r>
            <a:br/>
            <a:r>
              <a:t>• Matching Service (Haversine math)</a:t>
            </a:r>
            <a:br/>
            <a:r>
              <a:t>• Request Lifecycle State Machine</a:t>
            </a:r>
            <a:br/>
            <a:r>
              <a:t>• Bcrypt (10 rounds) + Role RBAC</a:t>
            </a:r>
            <a:br/>
            <a:r>
              <a:t>• Audit Logger Service (AuditLog)</a:t>
            </a:r>
            <a:br/>
            <a:r>
              <a:t>• In-App Notification Broadcaster</a:t>
            </a:r>
          </a:p>
        </p:txBody>
      </p:sp>
      <p:sp>
        <p:nvSpPr>
          <p:cNvPr id="8" name="Rounded Rectangle 7"/>
          <p:cNvSpPr/>
          <p:nvPr/>
        </p:nvSpPr>
        <p:spPr>
          <a:xfrm>
            <a:off x="8119872" y="1737360"/>
            <a:ext cx="3328416" cy="30175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900" b="1">
                <a:solidFill>
                  <a:srgbClr val="A855F7"/>
                </a:solidFill>
              </a:defRPr>
            </a:pPr>
            <a:r>
              <a:t>PERSISTENCE LAYER</a:t>
            </a:r>
          </a:p>
          <a:p>
            <a:pPr>
              <a:defRPr sz="1300" b="1">
                <a:solidFill>
                  <a:srgbClr val="FFFFFF"/>
                </a:solidFill>
              </a:defRPr>
            </a:pPr>
            <a:r>
              <a:t>Prisma ORM + SQLite</a:t>
            </a:r>
          </a:p>
          <a:p>
            <a:br/>
            <a:pPr>
              <a:defRPr sz="1000">
                <a:solidFill>
                  <a:srgbClr val="94A3B8"/>
                </a:solidFill>
              </a:defRPr>
            </a:pPr>
            <a:r>
              <a:t>• 7 Relational Database Models</a:t>
            </a:r>
            <a:br/>
            <a:r>
              <a:t>• Atomic prisma.$transaction Blocks</a:t>
            </a:r>
            <a:br/>
            <a:r>
              <a:t>• Automated Session Healing Logic</a:t>
            </a:r>
            <a:br/>
            <a:r>
              <a:t>• Indexed Coordinates &amp; Status Enums</a:t>
            </a:r>
            <a:br/>
            <a:r>
              <a:t>• Verified Tamil Nadu Seed Dataset</a:t>
            </a:r>
            <a:br/>
            <a:r>
              <a:t>• Foreign Key Cascade Safety</a:t>
            </a:r>
          </a:p>
        </p:txBody>
      </p:sp>
      <p:sp>
        <p:nvSpPr>
          <p:cNvPr id="9" name="Rounded Rectangle 8"/>
          <p:cNvSpPr/>
          <p:nvPr/>
        </p:nvSpPr>
        <p:spPr>
          <a:xfrm>
            <a:off x="731520" y="4937760"/>
            <a:ext cx="2468880" cy="1188720"/>
          </a:xfrm>
          <a:prstGeom prst="roundRect">
            <a:avLst/>
          </a:prstGeom>
          <a:solidFill>
            <a:srgbClr val="020617"/>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defRPr sz="2200" b="1">
                <a:solidFill>
                  <a:srgbClr val="60A5FA"/>
                </a:solidFill>
              </a:defRPr>
            </a:pPr>
            <a:r>
              <a:t>22</a:t>
            </a:r>
          </a:p>
          <a:p>
            <a:pPr algn="ctr">
              <a:defRPr sz="1000" b="1">
                <a:solidFill>
                  <a:srgbClr val="FFFFFF"/>
                </a:solidFill>
              </a:defRPr>
            </a:pPr>
            <a:r>
              <a:t>REST API Endpoints</a:t>
            </a:r>
          </a:p>
          <a:p>
            <a:pPr algn="ctr">
              <a:defRPr sz="800">
                <a:solidFill>
                  <a:srgbClr val="64748B"/>
                </a:solidFill>
              </a:defRPr>
            </a:pPr>
            <a:r>
              <a:t>Clean HTTP handlers with auth guards</a:t>
            </a:r>
          </a:p>
        </p:txBody>
      </p:sp>
      <p:sp>
        <p:nvSpPr>
          <p:cNvPr id="10" name="Rounded Rectangle 9"/>
          <p:cNvSpPr/>
          <p:nvPr/>
        </p:nvSpPr>
        <p:spPr>
          <a:xfrm>
            <a:off x="3483864" y="4937760"/>
            <a:ext cx="2468880" cy="1188720"/>
          </a:xfrm>
          <a:prstGeom prst="roundRect">
            <a:avLst/>
          </a:prstGeom>
          <a:solidFill>
            <a:srgbClr val="020617"/>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defRPr sz="2200" b="1">
                <a:solidFill>
                  <a:srgbClr val="60A5FA"/>
                </a:solidFill>
              </a:defRPr>
            </a:pPr>
            <a:r>
              <a:t>35</a:t>
            </a:r>
          </a:p>
          <a:p>
            <a:pPr algn="ctr">
              <a:defRPr sz="1000" b="1">
                <a:solidFill>
                  <a:srgbClr val="FFFFFF"/>
                </a:solidFill>
              </a:defRPr>
            </a:pPr>
            <a:r>
              <a:t>Compiled Routes</a:t>
            </a:r>
          </a:p>
          <a:p>
            <a:pPr algn="ctr">
              <a:defRPr sz="800">
                <a:solidFill>
                  <a:srgbClr val="64748B"/>
                </a:solidFill>
              </a:defRPr>
            </a:pPr>
            <a:r>
              <a:t>Next.js 14 production verified</a:t>
            </a:r>
          </a:p>
        </p:txBody>
      </p:sp>
      <p:sp>
        <p:nvSpPr>
          <p:cNvPr id="11" name="Rounded Rectangle 10"/>
          <p:cNvSpPr/>
          <p:nvPr/>
        </p:nvSpPr>
        <p:spPr>
          <a:xfrm>
            <a:off x="6236208" y="4937760"/>
            <a:ext cx="2468880" cy="1188720"/>
          </a:xfrm>
          <a:prstGeom prst="roundRect">
            <a:avLst/>
          </a:prstGeom>
          <a:solidFill>
            <a:srgbClr val="020617"/>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defRPr sz="2200" b="1">
                <a:solidFill>
                  <a:srgbClr val="60A5FA"/>
                </a:solidFill>
              </a:defRPr>
            </a:pPr>
            <a:r>
              <a:t>7 / 7</a:t>
            </a:r>
          </a:p>
          <a:p>
            <a:pPr algn="ctr">
              <a:defRPr sz="1000" b="1">
                <a:solidFill>
                  <a:srgbClr val="FFFFFF"/>
                </a:solidFill>
              </a:defRPr>
            </a:pPr>
            <a:r>
              <a:t>Automated Test Suites</a:t>
            </a:r>
          </a:p>
          <a:p>
            <a:pPr algn="ctr">
              <a:defRPr sz="800">
                <a:solidFill>
                  <a:srgbClr val="64748B"/>
                </a:solidFill>
              </a:defRPr>
            </a:pPr>
            <a:r>
              <a:t>100% passing math &amp; lifecycle suite</a:t>
            </a:r>
          </a:p>
        </p:txBody>
      </p:sp>
      <p:sp>
        <p:nvSpPr>
          <p:cNvPr id="12" name="Rounded Rectangle 11"/>
          <p:cNvSpPr/>
          <p:nvPr/>
        </p:nvSpPr>
        <p:spPr>
          <a:xfrm>
            <a:off x="8988552" y="4937760"/>
            <a:ext cx="2468880" cy="1188720"/>
          </a:xfrm>
          <a:prstGeom prst="roundRect">
            <a:avLst/>
          </a:prstGeom>
          <a:solidFill>
            <a:srgbClr val="020617"/>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defRPr sz="2200" b="1">
                <a:solidFill>
                  <a:srgbClr val="60A5FA"/>
                </a:solidFill>
              </a:defRPr>
            </a:pPr>
            <a:r>
              <a:t>0</a:t>
            </a:r>
          </a:p>
          <a:p>
            <a:pPr algn="ctr">
              <a:defRPr sz="1000" b="1">
                <a:solidFill>
                  <a:srgbClr val="FFFFFF"/>
                </a:solidFill>
              </a:defRPr>
            </a:pPr>
            <a:r>
              <a:t>TypeScript Errors</a:t>
            </a:r>
          </a:p>
          <a:p>
            <a:pPr algn="ctr">
              <a:defRPr sz="800">
                <a:solidFill>
                  <a:srgbClr val="64748B"/>
                </a:solidFill>
              </a:defRPr>
            </a:pPr>
            <a:r>
              <a:t>Strict type-checking via tsc --noEmit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54"/>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sz="900" b="1">
                <a:solidFill>
                  <a:srgbClr val="60A5FA"/>
                </a:solidFill>
              </a:defRPr>
            </a:pPr>
            <a:r>
              <a:t>  RUBRIC: UI/UX &amp; FRONTEND DESIGN • 5 MARKS</a:t>
            </a:r>
          </a:p>
        </p:txBody>
      </p:sp>
      <p:sp>
        <p:nvSpPr>
          <p:cNvPr id="4" name="TextBox 3"/>
          <p:cNvSpPr txBox="1"/>
          <p:nvPr/>
        </p:nvSpPr>
        <p:spPr>
          <a:xfrm>
            <a:off x="10058400" y="320040"/>
            <a:ext cx="1371600" cy="365760"/>
          </a:xfrm>
          <a:prstGeom prst="rect">
            <a:avLst/>
          </a:prstGeom>
          <a:noFill/>
        </p:spPr>
        <p:txBody>
          <a:bodyPr wrap="none">
            <a:spAutoFit/>
          </a:bodyPr>
          <a:lstStyle/>
          <a:p>
            <a:pPr algn="r">
              <a:defRPr sz="1000" b="1">
                <a:solidFill>
                  <a:srgbClr val="64748B"/>
                </a:solidFill>
              </a:defRPr>
            </a:pPr>
            <a:r>
              <a:t>Slide 5 / 6</a:t>
            </a:r>
          </a:p>
        </p:txBody>
      </p:sp>
      <p:sp>
        <p:nvSpPr>
          <p:cNvPr id="5" name="TextBox 4"/>
          <p:cNvSpPr txBox="1"/>
          <p:nvPr/>
        </p:nvSpPr>
        <p:spPr>
          <a:xfrm>
            <a:off x="731520" y="822960"/>
            <a:ext cx="10698480" cy="822960"/>
          </a:xfrm>
          <a:prstGeom prst="rect">
            <a:avLst/>
          </a:prstGeom>
          <a:noFill/>
        </p:spPr>
        <p:txBody>
          <a:bodyPr wrap="none">
            <a:spAutoFit/>
          </a:bodyPr>
          <a:lstStyle/>
          <a:p>
            <a:pPr>
              <a:defRPr sz="2800" b="1">
                <a:solidFill>
                  <a:srgbClr val="FFFFFF"/>
                </a:solidFill>
              </a:defRPr>
            </a:pPr>
            <a:r>
              <a:t>UI/UX &amp; Product Experience</a:t>
            </a:r>
          </a:p>
          <a:p>
            <a:pPr>
              <a:defRPr sz="1300">
                <a:solidFill>
                  <a:srgbClr val="94A3B8"/>
                </a:solidFill>
              </a:defRPr>
            </a:pPr>
            <a:r>
              <a:t>High-contrast emergency command aesthetic designed for instant field comprehension under pressure.</a:t>
            </a:r>
          </a:p>
        </p:txBody>
      </p:sp>
      <p:sp>
        <p:nvSpPr>
          <p:cNvPr id="6" name="Rounded Rectangle 5"/>
          <p:cNvSpPr/>
          <p:nvPr/>
        </p:nvSpPr>
        <p:spPr>
          <a:xfrm>
            <a:off x="731520" y="1737360"/>
            <a:ext cx="2468880" cy="365760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900" b="1">
                <a:solidFill>
                  <a:srgbClr val="60A5FA"/>
                </a:solidFill>
              </a:defRPr>
            </a:pPr>
            <a:r>
              <a:t>CITIZEN PORTAL</a:t>
            </a:r>
          </a:p>
          <a:p>
            <a:pPr>
              <a:defRPr sz="1200" b="1">
                <a:solidFill>
                  <a:srgbClr val="FFFFFF"/>
                </a:solidFill>
              </a:defRPr>
            </a:pPr>
            <a:r>
              <a:t>Multi-Step Request Wizard</a:t>
            </a:r>
          </a:p>
          <a:p>
            <a:br/>
            <a:pPr>
              <a:defRPr sz="1000">
                <a:solidFill>
                  <a:srgbClr val="94A3B8"/>
                </a:solidFill>
              </a:defRPr>
            </a:pPr>
            <a:r>
              <a:t>5-step progressive disclosure wizard with embedded Google Maps coordinate selector, regional district presets (Chennai, Madurai, Salem), and live telemetry progress bar.</a:t>
            </a:r>
          </a:p>
          <a:p>
            <a:br/>
            <a:pPr>
              <a:defRPr sz="900" b="1">
                <a:solidFill>
                  <a:srgbClr val="60A5FA"/>
                </a:solidFill>
              </a:defRPr>
            </a:pPr>
            <a:r>
              <a:t>• Pinpoint GPS Picker</a:t>
            </a:r>
          </a:p>
        </p:txBody>
      </p:sp>
      <p:sp>
        <p:nvSpPr>
          <p:cNvPr id="7" name="Rounded Rectangle 6"/>
          <p:cNvSpPr/>
          <p:nvPr/>
        </p:nvSpPr>
        <p:spPr>
          <a:xfrm>
            <a:off x="3483864" y="1737360"/>
            <a:ext cx="2468880" cy="365760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900" b="1">
                <a:solidFill>
                  <a:srgbClr val="10B981"/>
                </a:solidFill>
              </a:defRPr>
            </a:pPr>
            <a:r>
              <a:t>VOLUNTEER HUB</a:t>
            </a:r>
          </a:p>
          <a:p>
            <a:pPr>
              <a:defRPr sz="1200" b="1">
                <a:solidFill>
                  <a:srgbClr val="FFFFFF"/>
                </a:solidFill>
              </a:defRPr>
            </a:pPr>
            <a:r>
              <a:t>Radius Proximity Radar</a:t>
            </a:r>
          </a:p>
          <a:p>
            <a:br/>
            <a:pPr>
              <a:defRPr sz="1000">
                <a:solidFill>
                  <a:srgbClr val="94A3B8"/>
                </a:solidFill>
              </a:defRPr>
            </a:pPr>
            <a:r>
              <a:t>Real-time feed showing distance in kilometers, supplies required, affected individuals count, vehicle capability tags, and 1-click mission acceptance.</a:t>
            </a:r>
          </a:p>
          <a:p>
            <a:br/>
            <a:pPr>
              <a:defRPr sz="900" b="1">
                <a:solidFill>
                  <a:srgbClr val="10B981"/>
                </a:solidFill>
              </a:defRPr>
            </a:pPr>
            <a:r>
              <a:t>• Proximity Distance Feed</a:t>
            </a:r>
          </a:p>
        </p:txBody>
      </p:sp>
      <p:sp>
        <p:nvSpPr>
          <p:cNvPr id="8" name="Rounded Rectangle 7"/>
          <p:cNvSpPr/>
          <p:nvPr/>
        </p:nvSpPr>
        <p:spPr>
          <a:xfrm>
            <a:off x="6236208" y="1737360"/>
            <a:ext cx="2468880" cy="365760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900" b="1">
                <a:solidFill>
                  <a:srgbClr val="EF4444"/>
                </a:solidFill>
              </a:defRPr>
            </a:pPr>
            <a:r>
              <a:t>ADMIN CONSOLE</a:t>
            </a:r>
          </a:p>
          <a:p>
            <a:pPr>
              <a:defRPr sz="1200" b="1">
                <a:solidFill>
                  <a:srgbClr val="FFFFFF"/>
                </a:solidFill>
              </a:defRPr>
            </a:pPr>
            <a:r>
              <a:t>Command Grid &amp; Map</a:t>
            </a:r>
          </a:p>
          <a:p>
            <a:br/>
            <a:pPr>
              <a:defRPr sz="1000">
                <a:solidFill>
                  <a:srgbClr val="94A3B8"/>
                </a:solidFill>
              </a:defRPr>
            </a:pPr>
            <a:r>
              <a:t>Tactical Tamil Nadu Leaflet map with pulsing critical hazard markers, volunteer verification desk, priority override controls, and permanent audit trail.</a:t>
            </a:r>
          </a:p>
          <a:p>
            <a:br/>
            <a:pPr>
              <a:defRPr sz="900" b="1">
                <a:solidFill>
                  <a:srgbClr val="EF4444"/>
                </a:solidFill>
              </a:defRPr>
            </a:pPr>
            <a:r>
              <a:t>• Pulsing Hazard Symbology</a:t>
            </a:r>
          </a:p>
        </p:txBody>
      </p:sp>
      <p:sp>
        <p:nvSpPr>
          <p:cNvPr id="9" name="Rounded Rectangle 8"/>
          <p:cNvSpPr/>
          <p:nvPr/>
        </p:nvSpPr>
        <p:spPr>
          <a:xfrm>
            <a:off x="8988552" y="1737360"/>
            <a:ext cx="2468880" cy="365760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900" b="1">
                <a:solidFill>
                  <a:srgbClr val="A855F7"/>
                </a:solidFill>
              </a:defRPr>
            </a:pPr>
            <a:r>
              <a:t>EXPLAINABLE AI</a:t>
            </a:r>
          </a:p>
          <a:p>
            <a:pPr>
              <a:defRPr sz="1200" b="1">
                <a:solidFill>
                  <a:srgbClr val="FFFFFF"/>
                </a:solidFill>
              </a:defRPr>
            </a:pPr>
            <a:r>
              <a:t>Priority Rationale Modal</a:t>
            </a:r>
          </a:p>
          <a:p>
            <a:br/>
            <a:pPr>
              <a:defRPr sz="1000">
                <a:solidFill>
                  <a:srgbClr val="94A3B8"/>
                </a:solidFill>
              </a:defRPr>
            </a:pPr>
            <a:r>
              <a:t>Clickable score rationale trigger on every request card breaking down exact points contributing to an incident's priority score for complete trust.</a:t>
            </a:r>
          </a:p>
          <a:p>
            <a:br/>
            <a:pPr>
              <a:defRPr sz="900" b="1">
                <a:solidFill>
                  <a:srgbClr val="A855F7"/>
                </a:solidFill>
              </a:defRPr>
            </a:pPr>
            <a:r>
              <a:t>• Transparent Triage Math</a:t>
            </a:r>
          </a:p>
        </p:txBody>
      </p:sp>
      <p:sp>
        <p:nvSpPr>
          <p:cNvPr id="10" name="Rectangle 9"/>
          <p:cNvSpPr/>
          <p:nvPr/>
        </p:nvSpPr>
        <p:spPr>
          <a:xfrm>
            <a:off x="731520" y="5577840"/>
            <a:ext cx="10728655" cy="594360"/>
          </a:xfrm>
          <a:prstGeom prst="rect">
            <a:avLst/>
          </a:prstGeom>
          <a:solidFill>
            <a:srgbClr val="020617"/>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4A3B8"/>
                </a:solidFill>
              </a:defRPr>
            </a:pPr>
            <a:r>
              <a:t>DESIGN SYSTEM: Full Widescreen Fluid Grid  •  Zero Emojis (Vector Lucide Only)  •  Mobile Bottom Bar  •  108 Indian Life-Safety Notice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172554"/>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sz="900" b="1">
                <a:solidFill>
                  <a:srgbClr val="60A5FA"/>
                </a:solidFill>
              </a:defRPr>
            </a:pPr>
            <a:r>
              <a:t>  CONCLUSION &amp; LIVE DEMONSTRATION</a:t>
            </a:r>
          </a:p>
        </p:txBody>
      </p:sp>
      <p:sp>
        <p:nvSpPr>
          <p:cNvPr id="4" name="TextBox 3"/>
          <p:cNvSpPr txBox="1"/>
          <p:nvPr/>
        </p:nvSpPr>
        <p:spPr>
          <a:xfrm>
            <a:off x="10058400" y="320040"/>
            <a:ext cx="1371600" cy="365760"/>
          </a:xfrm>
          <a:prstGeom prst="rect">
            <a:avLst/>
          </a:prstGeom>
          <a:noFill/>
        </p:spPr>
        <p:txBody>
          <a:bodyPr wrap="none">
            <a:spAutoFit/>
          </a:bodyPr>
          <a:lstStyle/>
          <a:p>
            <a:pPr algn="r">
              <a:defRPr sz="1000" b="1">
                <a:solidFill>
                  <a:srgbClr val="64748B"/>
                </a:solidFill>
              </a:defRPr>
            </a:pPr>
            <a:r>
              <a:t>Slide 6 / 6</a:t>
            </a:r>
          </a:p>
        </p:txBody>
      </p:sp>
      <p:sp>
        <p:nvSpPr>
          <p:cNvPr id="5" name="TextBox 4"/>
          <p:cNvSpPr txBox="1"/>
          <p:nvPr/>
        </p:nvSpPr>
        <p:spPr>
          <a:xfrm>
            <a:off x="731520" y="822960"/>
            <a:ext cx="10698480" cy="822960"/>
          </a:xfrm>
          <a:prstGeom prst="rect">
            <a:avLst/>
          </a:prstGeom>
          <a:noFill/>
        </p:spPr>
        <p:txBody>
          <a:bodyPr wrap="none">
            <a:spAutoFit/>
          </a:bodyPr>
          <a:lstStyle/>
          <a:p>
            <a:pPr>
              <a:defRPr sz="2800" b="1">
                <a:solidFill>
                  <a:srgbClr val="FFFFFF"/>
                </a:solidFill>
              </a:defRPr>
            </a:pPr>
            <a:r>
              <a:t>From emergency requests to coordinated response.</a:t>
            </a:r>
          </a:p>
        </p:txBody>
      </p:sp>
      <p:sp>
        <p:nvSpPr>
          <p:cNvPr id="6" name="Rounded Rectangle 5"/>
          <p:cNvSpPr/>
          <p:nvPr/>
        </p:nvSpPr>
        <p:spPr>
          <a:xfrm>
            <a:off x="731520" y="1691640"/>
            <a:ext cx="10728655" cy="7772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tIns="164592"/>
          <a:lstStyle/>
          <a:p>
            <a:pPr algn="ctr">
              <a:defRPr sz="1100" b="1">
                <a:solidFill>
                  <a:srgbClr val="60A5FA"/>
                </a:solidFill>
              </a:defRPr>
            </a:pPr>
            <a:r>
              <a:t>CITIZEN (Needs Help)    --&gt;    RESQLINK (Scores &amp; Matches)    --&gt;    VOLUNTEER (Delivers)    --&gt;    RESOLUTION (Confirmed)</a:t>
            </a:r>
          </a:p>
        </p:txBody>
      </p:sp>
      <p:sp>
        <p:nvSpPr>
          <p:cNvPr id="7" name="Rounded Rectangle 6"/>
          <p:cNvSpPr/>
          <p:nvPr/>
        </p:nvSpPr>
        <p:spPr>
          <a:xfrm>
            <a:off x="731520" y="2651760"/>
            <a:ext cx="3328416" cy="14630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100" b="1">
                <a:solidFill>
                  <a:srgbClr val="FFFFFF"/>
                </a:solidFill>
              </a:defRPr>
            </a:pPr>
            <a:r>
              <a:t>01  Priority-Aware Triage</a:t>
            </a:r>
          </a:p>
          <a:p>
            <a:br/>
            <a:pPr>
              <a:defRPr sz="900">
                <a:solidFill>
                  <a:srgbClr val="94A3B8"/>
                </a:solidFill>
              </a:defRPr>
            </a:pPr>
            <a:r>
              <a:t>Automated multi-factor scoring (severity, population, mortality, wait aging) prevents triage bottlenecks during disasters.</a:t>
            </a:r>
          </a:p>
        </p:txBody>
      </p:sp>
      <p:sp>
        <p:nvSpPr>
          <p:cNvPr id="8" name="Rounded Rectangle 7"/>
          <p:cNvSpPr/>
          <p:nvPr/>
        </p:nvSpPr>
        <p:spPr>
          <a:xfrm>
            <a:off x="4425696" y="2651760"/>
            <a:ext cx="3328416" cy="14630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100" b="1">
                <a:solidFill>
                  <a:srgbClr val="FFFFFF"/>
                </a:solidFill>
              </a:defRPr>
            </a:pPr>
            <a:r>
              <a:t>02  Location-Aware Matching</a:t>
            </a:r>
          </a:p>
          <a:p>
            <a:br/>
            <a:pPr>
              <a:defRPr sz="900">
                <a:solidFill>
                  <a:srgbClr val="94A3B8"/>
                </a:solidFill>
              </a:defRPr>
            </a:pPr>
            <a:r>
              <a:t>Real Haversine Great-Circle math routes supplies to the nearest available responder with capability alignment.</a:t>
            </a:r>
          </a:p>
        </p:txBody>
      </p:sp>
      <p:sp>
        <p:nvSpPr>
          <p:cNvPr id="9" name="Rounded Rectangle 8"/>
          <p:cNvSpPr/>
          <p:nvPr/>
        </p:nvSpPr>
        <p:spPr>
          <a:xfrm>
            <a:off x="8119872" y="2651760"/>
            <a:ext cx="3328416" cy="14630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lIns="137160" rIns="137160" tIns="137160"/>
          <a:lstStyle/>
          <a:p>
            <a:pPr algn="ctr">
              <a:defRPr sz="1100" b="1">
                <a:solidFill>
                  <a:srgbClr val="FFFFFF"/>
                </a:solidFill>
              </a:defRPr>
            </a:pPr>
            <a:r>
              <a:t>03  End-to-End Visibility</a:t>
            </a:r>
          </a:p>
          <a:p>
            <a:br/>
            <a:pPr>
              <a:defRPr sz="900">
                <a:solidFill>
                  <a:srgbClr val="94A3B8"/>
                </a:solidFill>
              </a:defRPr>
            </a:pPr>
            <a:r>
              <a:t>Complete audit trail, volunteer verification, and recipient confirmation prevent lost aid or abandoned requests.</a:t>
            </a:r>
          </a:p>
        </p:txBody>
      </p:sp>
      <p:sp>
        <p:nvSpPr>
          <p:cNvPr id="10" name="Rounded Rectangle 9"/>
          <p:cNvSpPr/>
          <p:nvPr/>
        </p:nvSpPr>
        <p:spPr>
          <a:xfrm>
            <a:off x="731520" y="4297680"/>
            <a:ext cx="10728655" cy="1051560"/>
          </a:xfrm>
          <a:prstGeom prst="roundRect">
            <a:avLst/>
          </a:prstGeom>
          <a:solidFill>
            <a:srgbClr val="020617"/>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228600" tIns="137160"/>
          <a:lstStyle/>
          <a:p>
            <a:pPr algn="ctr">
              <a:defRPr sz="1000" b="1">
                <a:solidFill>
                  <a:srgbClr val="60A5FA"/>
                </a:solidFill>
              </a:defRPr>
            </a:pPr>
            <a:r>
              <a:t>60-SECOND LIVE DEMONSTRATION WALKTHROUGH</a:t>
            </a:r>
          </a:p>
          <a:p>
            <a:pPr>
              <a:defRPr sz="1000">
                <a:solidFill>
                  <a:srgbClr val="FFFFFF"/>
                </a:solidFill>
              </a:defRPr>
            </a:pPr>
            <a:r>
              <a:t>1. Create Request with Google Maps Pin  --&gt;  2. Inspect Priority Rationale (78 pts)  --&gt;  3. Match Volunteer via Radar</a:t>
            </a:r>
            <a:br/>
            <a:r>
              <a:t>4. Start Transit &amp; Fulfill Delivery  --&gt;  5. Confirm Receipt &amp; Close Ticket  --&gt;  6. View Permanent Audit Trail</a:t>
            </a:r>
          </a:p>
        </p:txBody>
      </p:sp>
      <p:sp>
        <p:nvSpPr>
          <p:cNvPr id="11" name="TextBox 10"/>
          <p:cNvSpPr txBox="1"/>
          <p:nvPr/>
        </p:nvSpPr>
        <p:spPr>
          <a:xfrm>
            <a:off x="731520" y="5532120"/>
            <a:ext cx="10728655" cy="822960"/>
          </a:xfrm>
          <a:prstGeom prst="rect">
            <a:avLst/>
          </a:prstGeom>
          <a:noFill/>
        </p:spPr>
        <p:txBody>
          <a:bodyPr wrap="none">
            <a:spAutoFit/>
          </a:bodyPr>
          <a:lstStyle/>
          <a:p>
            <a:pPr>
              <a:defRPr sz="1800" b="1">
                <a:solidFill>
                  <a:srgbClr val="FFFFFF"/>
                </a:solidFill>
              </a:defRPr>
            </a:pPr>
            <a:r>
              <a:t>RESQLINK</a:t>
            </a:r>
            <a:r>
              <a:rPr sz="1600" b="0">
                <a:solidFill>
                  <a:srgbClr val="60A5FA"/>
                </a:solidFill>
              </a:rPr>
              <a:t>   •   Coordinate. Respond. Resolve.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